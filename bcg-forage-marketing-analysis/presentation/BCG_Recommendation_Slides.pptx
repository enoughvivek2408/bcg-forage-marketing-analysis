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 id="2147485245" r:id="rId5"/>
  </p:sldMasterIdLst>
  <p:notesMasterIdLst>
    <p:notesMasterId r:id="rId7"/>
  </p:notesMasterIdLst>
  <p:handoutMasterIdLst>
    <p:handoutMasterId r:id="rId8"/>
  </p:handoutMasterIdLst>
  <p:sldIdLst>
    <p:sldId id="338" r:id="rId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7" d="100"/>
          <a:sy n="87" d="100"/>
        </p:scale>
        <p:origin x="437" y="5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8/10/relationships/authors" Targe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7/1/2026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7/1/2026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6.xml"/><Relationship Id="rId10" Type="http://schemas.openxmlformats.org/officeDocument/2006/relationships/image" Target="../media/image4.jpg"/><Relationship Id="rId4" Type="http://schemas.openxmlformats.org/officeDocument/2006/relationships/tags" Target="../tags/tag5.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image" Target="../media/image9.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32.xml"/><Relationship Id="rId7" Type="http://schemas.openxmlformats.org/officeDocument/2006/relationships/image" Target="../media/image2.emf"/><Relationship Id="rId2" Type="http://schemas.openxmlformats.org/officeDocument/2006/relationships/tags" Target="../tags/tag31.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6.xml"/><Relationship Id="rId7" Type="http://schemas.openxmlformats.org/officeDocument/2006/relationships/oleObject" Target="../embeddings/oleObject5.bin"/><Relationship Id="rId2" Type="http://schemas.openxmlformats.org/officeDocument/2006/relationships/tags" Target="../tags/tag35.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38.xml"/><Relationship Id="rId10" Type="http://schemas.openxmlformats.org/officeDocument/2006/relationships/image" Target="../media/image4.jpg"/><Relationship Id="rId4" Type="http://schemas.openxmlformats.org/officeDocument/2006/relationships/tags" Target="../tags/tag37.xml"/><Relationship Id="rId9"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5.png"/><Relationship Id="rId2" Type="http://schemas.openxmlformats.org/officeDocument/2006/relationships/tags" Target="../tags/tag48.xml"/><Relationship Id="rId1" Type="http://schemas.openxmlformats.org/officeDocument/2006/relationships/vmlDrawing" Target="../drawings/vmlDrawing7.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vmlDrawing" Target="../drawings/vmlDrawing8.vml"/><Relationship Id="rId6" Type="http://schemas.openxmlformats.org/officeDocument/2006/relationships/image" Target="../media/image9.pn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66.xml"/><Relationship Id="rId7" Type="http://schemas.openxmlformats.org/officeDocument/2006/relationships/image" Target="../media/image2.emf"/><Relationship Id="rId2" Type="http://schemas.openxmlformats.org/officeDocument/2006/relationships/tags" Target="../tags/tag65.xml"/><Relationship Id="rId1" Type="http://schemas.openxmlformats.org/officeDocument/2006/relationships/vmlDrawing" Target="../drawings/vmlDrawing9.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6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3.png"/><Relationship Id="rId2" Type="http://schemas.openxmlformats.org/officeDocument/2006/relationships/tags" Target="../tags/tag73.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3.png"/><Relationship Id="rId2" Type="http://schemas.openxmlformats.org/officeDocument/2006/relationships/tags" Target="../tags/tag79.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vmlDrawing" Target="../drawings/vmlDrawing18.v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3.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1"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75"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099"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23"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4"/>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7"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71"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95"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19"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4"/>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43"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267"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291"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15"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39"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363"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38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11"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435"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49059616"/>
      </p:ext>
    </p:extLst>
  </p:cSld>
  <p:clrMapOvr>
    <a:masterClrMapping/>
  </p:clrMapOvr>
  <p:timing>
    <p:tnLst>
      <p:par>
        <p:cTn id="1" dur="indefinite" restart="never" nodeType="tmRoot"/>
      </p:par>
    </p:tnLst>
  </p:timing>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5874776"/>
      </p:ext>
    </p:extLst>
  </p:cSld>
  <p:clrMapOvr>
    <a:masterClrMapping/>
  </p:clrMapOvr>
  <p:timing>
    <p:tnLst>
      <p:par>
        <p:cTn id="1" dur="indefinite" restart="never" nodeType="tmRoot"/>
      </p:par>
    </p:tnLst>
  </p:timing>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28340016"/>
      </p:ext>
    </p:extLst>
  </p:cSld>
  <p:clrMapOvr>
    <a:masterClrMapping/>
  </p:clrMapOvr>
  <p:timing>
    <p:tnLst>
      <p:par>
        <p:cTn id="1" dur="indefinite" restart="never" nodeType="tmRoot"/>
      </p:par>
    </p:tnLst>
  </p:timing>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832349296"/>
      </p:ext>
    </p:extLst>
  </p:cSld>
  <p:clrMapOvr>
    <a:masterClrMapping/>
  </p:clrMapOvr>
  <p:timing>
    <p:tnLst>
      <p:par>
        <p:cTn id="1" dur="indefinite" restart="never" nodeType="tmRoot"/>
      </p:par>
    </p:tnLst>
  </p:timing>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87435116"/>
      </p:ext>
    </p:extLst>
  </p:cSld>
  <p:clrMapOvr>
    <a:masterClrMapping/>
  </p:clrMapOvr>
  <p:timing>
    <p:tnLst>
      <p:par>
        <p:cTn id="1" dur="indefinite" restart="never" nodeType="tmRoot"/>
      </p:par>
    </p:tnLst>
  </p:timing>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
        <p:nvSpPr>
          <p:cNvPr id="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982967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952730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45919370"/>
      </p:ext>
    </p:extLst>
  </p:cSld>
  <p:clrMapOvr>
    <a:masterClrMapping/>
  </p:clrMapOvr>
  <p:timing>
    <p:tnLst>
      <p:par>
        <p:cTn id="1" dur="indefinite" restart="never" nodeType="tmRoot"/>
      </p:par>
    </p:tnLst>
  </p:timing>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42346360"/>
      </p:ext>
    </p:extLst>
  </p:cSld>
  <p:clrMapOvr>
    <a:masterClrMapping/>
  </p:clrMapOvr>
  <p:timing>
    <p:tnLst>
      <p:par>
        <p:cTn id="1" dur="indefinite" restart="never" nodeType="tmRoot"/>
      </p:par>
    </p:tnLst>
  </p:timing>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69259727"/>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50825387"/>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88448726"/>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91921694"/>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04304160"/>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29026797"/>
      </p:ext>
    </p:extLst>
  </p:cSld>
  <p:clrMapOvr>
    <a:masterClrMapping/>
  </p:clrMapOvr>
  <p:timing>
    <p:tnLst>
      <p:par>
        <p:cTn id="1" dur="indefinite" restart="never" nodeType="tmRoot"/>
      </p:par>
    </p:tnLst>
  </p:timing>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81913860"/>
      </p:ext>
    </p:extLst>
  </p:cSld>
  <p:clrMapOvr>
    <a:masterClrMapping/>
  </p:clrMapOvr>
  <p:timing>
    <p:tnLst>
      <p:par>
        <p:cTn id="1" dur="indefinite" restart="never" nodeType="tmRoot"/>
      </p:par>
    </p:tnLst>
  </p:timing>
  <p:hf sldNum="0" hdr="0" ftr="0" dt="0"/>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vmlDrawing" Target="../drawings/vmlDrawing1.v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vmlDrawing" Target="../drawings/vmlDrawing19.vml"/><Relationship Id="rId3" Type="http://schemas.openxmlformats.org/officeDocument/2006/relationships/slideLayout" Target="../slideLayouts/slideLayout70.xml"/><Relationship Id="rId21" Type="http://schemas.openxmlformats.org/officeDocument/2006/relationships/image" Target="../media/image1.emf"/><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theme" Target="../theme/theme2.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oleObject" Target="../embeddings/oleObject1.bin"/><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19" Type="http://schemas.openxmlformats.org/officeDocument/2006/relationships/tags" Target="../tags/tag82.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7"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graphicFrame>
        <p:nvGraphicFramePr>
          <p:cNvPr id="36" name="Object 35" hidden="1"/>
          <p:cNvGraphicFramePr>
            <a:graphicFrameLocks noChangeAspect="1"/>
          </p:cNvGraphicFramePr>
          <p:nvPr userDrawn="1">
            <p:custDataLst>
              <p:tags r:id="rId1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482" name="think-cell Slide" r:id="rId20" imgW="270" imgH="270" progId="TCLayout.ActiveDocument.1">
                  <p:embed/>
                </p:oleObj>
              </mc:Choice>
              <mc:Fallback>
                <p:oleObj name="think-cell Slide" r:id="rId20" imgW="270" imgH="270" progId="TCLayout.ActiveDocument.1">
                  <p:embed/>
                  <p:pic>
                    <p:nvPicPr>
                      <p:cNvPr id="11" name="Object 10" hidden="1"/>
                      <p:cNvPicPr/>
                      <p:nvPr/>
                    </p:nvPicPr>
                    <p:blipFill>
                      <a:blip r:embed="rId21"/>
                      <a:stretch>
                        <a:fillRect/>
                      </a:stretch>
                    </p:blipFill>
                    <p:spPr>
                      <a:xfrm>
                        <a:off x="1588" y="1588"/>
                        <a:ext cx="1587" cy="1587"/>
                      </a:xfrm>
                      <a:prstGeom prst="rect">
                        <a:avLst/>
                      </a:prstGeom>
                    </p:spPr>
                  </p:pic>
                </p:oleObj>
              </mc:Fallback>
            </mc:AlternateContent>
          </a:graphicData>
        </a:graphic>
      </p:graphicFrame>
      <p:sp>
        <p:nvSpPr>
          <p:cNvPr id="37" name="TextBox 3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376395005"/>
      </p:ext>
    </p:extLst>
  </p:cSld>
  <p:clrMap bg1="lt1" tx1="dk1" bg2="lt2" tx2="dk2" accent1="accent1" accent2="accent2" accent3="accent3" accent4="accent4" accent5="accent5" accent6="accent6" hlink="hlink" folHlink="folHlink"/>
  <p:sldLayoutIdLst>
    <p:sldLayoutId id="2147485246" r:id="rId1"/>
    <p:sldLayoutId id="2147485247" r:id="rId2"/>
    <p:sldLayoutId id="2147485248" r:id="rId3"/>
    <p:sldLayoutId id="2147485249" r:id="rId4"/>
    <p:sldLayoutId id="2147485250" r:id="rId5"/>
    <p:sldLayoutId id="2147485251" r:id="rId6"/>
    <p:sldLayoutId id="2147485252" r:id="rId7"/>
    <p:sldLayoutId id="2147485253" r:id="rId8"/>
    <p:sldLayoutId id="2147485254" r:id="rId9"/>
    <p:sldLayoutId id="2147485255" r:id="rId10"/>
    <p:sldLayoutId id="2147485256" r:id="rId11"/>
    <p:sldLayoutId id="2147485257" r:id="rId12"/>
    <p:sldLayoutId id="2147485258" r:id="rId13"/>
    <p:sldLayoutId id="2147485259" r:id="rId14"/>
    <p:sldLayoutId id="2147485260" r:id="rId15"/>
    <p:sldLayoutId id="2147485261" r:id="rId1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86.xml"/><Relationship Id="rId7" Type="http://schemas.openxmlformats.org/officeDocument/2006/relationships/image" Target="../media/image10.emf"/><Relationship Id="rId12" Type="http://schemas.openxmlformats.org/officeDocument/2006/relationships/image" Target="../media/image14.tmp"/><Relationship Id="rId2" Type="http://schemas.openxmlformats.org/officeDocument/2006/relationships/tags" Target="../tags/tag85.xml"/><Relationship Id="rId1" Type="http://schemas.openxmlformats.org/officeDocument/2006/relationships/vmlDrawing" Target="../drawings/vmlDrawing20.vml"/><Relationship Id="rId6" Type="http://schemas.openxmlformats.org/officeDocument/2006/relationships/oleObject" Target="../embeddings/oleObject16.bin"/><Relationship Id="rId11" Type="http://schemas.openxmlformats.org/officeDocument/2006/relationships/image" Target="../media/image13.tmp"/><Relationship Id="rId5" Type="http://schemas.openxmlformats.org/officeDocument/2006/relationships/slideLayout" Target="../slideLayouts/slideLayout73.xml"/><Relationship Id="rId10" Type="http://schemas.openxmlformats.org/officeDocument/2006/relationships/image" Target="../media/image12.tmp"/><Relationship Id="rId4" Type="http://schemas.openxmlformats.org/officeDocument/2006/relationships/tags" Target="../tags/tag87.xml"/><Relationship Id="rId9"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460" name="think-cell Slide" r:id="rId6" imgW="286" imgH="286" progId="TCLayout.ActiveDocument.1">
                  <p:embed/>
                </p:oleObj>
              </mc:Choice>
              <mc:Fallback>
                <p:oleObj name="think-cell Slide" r:id="rId6"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normAutofit fontScale="90000"/>
          </a:bodyPr>
          <a:lstStyle/>
          <a:p>
            <a:r>
              <a:rPr lang="en-US" sz="2800" b="1" dirty="0"/>
              <a:t>Marketing Campaign Performance Analysis &amp; Recommendation</a:t>
            </a:r>
            <a:endParaRPr lang="en-US" sz="2800" dirty="0"/>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r>
              <a:rPr lang="en-US" sz="1600" b="1" dirty="0" smtClean="0">
                <a:solidFill>
                  <a:srgbClr val="000000"/>
                </a:solidFill>
              </a:rPr>
              <a:t>: </a:t>
            </a:r>
            <a:r>
              <a:rPr lang="en-US" sz="1600" b="1" dirty="0">
                <a:solidFill>
                  <a:srgbClr val="FFC000"/>
                </a:solidFill>
              </a:rPr>
              <a:t>Based on the analysis, Campaign B through the Email channel generated the highest new customer sales. We recommend increasing investment in this campaign-channel combination while continuing to optimize Instagram and Web Banner campaigns to improve overall customer acquisition.</a:t>
            </a:r>
            <a:endParaRPr lang="en-US" sz="1600" b="1" dirty="0">
              <a:solidFill>
                <a:srgbClr val="FFC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55108"/>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solidFill>
                  <a:schemeClr val="bg2">
                    <a:lumMod val="10000"/>
                  </a:schemeClr>
                </a:solidFill>
              </a:rPr>
              <a:t>New Customer Sales by Campaign &amp; Channel</a:t>
            </a:r>
            <a:endParaRPr lang="en-US" sz="1200" b="1" dirty="0">
              <a:solidFill>
                <a:schemeClr val="bg2">
                  <a:lumMod val="10000"/>
                </a:schemeClr>
              </a:solidFill>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3"/>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spid="_x0000_s19461" name="think-cell Slide" r:id="rId8" imgW="270" imgH="270" progId="TCLayout.ActiveDocument.1">
                  <p:embed/>
                </p:oleObj>
              </mc:Choice>
              <mc:Fallback>
                <p:oleObj name="think-cell Slide" r:id="rId8"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9"/>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4"/>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230600" y="1638153"/>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solidFill>
                  <a:schemeClr val="bg2">
                    <a:lumMod val="10000"/>
                  </a:schemeClr>
                </a:solidFill>
              </a:rPr>
              <a:t>New Customer Sales by Marketing Channel</a:t>
            </a:r>
            <a:endParaRPr lang="en-US" sz="1200" b="1" dirty="0">
              <a:solidFill>
                <a:schemeClr val="bg2">
                  <a:lumMod val="10000"/>
                </a:schemeClr>
              </a:solidFill>
            </a:endParaRP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676985"/>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solidFill>
                  <a:schemeClr val="bg2">
                    <a:lumMod val="10000"/>
                  </a:schemeClr>
                </a:solidFill>
              </a:rPr>
              <a:t>New Customer Sales by Campaign</a:t>
            </a:r>
            <a:endParaRPr lang="en-US" sz="1200" b="1" dirty="0">
              <a:solidFill>
                <a:schemeClr val="bg2">
                  <a:lumMod val="10000"/>
                </a:schemeClr>
              </a:solidFill>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 name="Picture 8" descr="Screen Clipping"/>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1692" y="2124979"/>
            <a:ext cx="3508131" cy="2571297"/>
          </a:xfrm>
          <a:prstGeom prst="rect">
            <a:avLst/>
          </a:prstGeom>
        </p:spPr>
      </p:pic>
      <p:pic>
        <p:nvPicPr>
          <p:cNvPr id="10" name="Picture 9" descr="Screen Clippi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152757" y="2124979"/>
            <a:ext cx="2765417" cy="2579799"/>
          </a:xfrm>
          <a:prstGeom prst="rect">
            <a:avLst/>
          </a:prstGeom>
        </p:spPr>
      </p:pic>
      <p:pic>
        <p:nvPicPr>
          <p:cNvPr id="11" name="Picture 10" descr="Screen Clipping"/>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021286" y="2152441"/>
            <a:ext cx="4541914" cy="2552337"/>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123</TotalTime>
  <Words>67</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9" baseType="lpstr">
      <vt:lpstr>Arial</vt:lpstr>
      <vt:lpstr>Century Gothic</vt:lpstr>
      <vt:lpstr>Trebuchet MS</vt:lpstr>
      <vt:lpstr>Wingdings 3</vt:lpstr>
      <vt:lpstr>BCG Grid 16:9</vt:lpstr>
      <vt:lpstr>Wisp</vt:lpstr>
      <vt:lpstr>think-cell Slide</vt:lpstr>
      <vt:lpstr>Marketing Campaign Performance Analysis &amp; Recommendation</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Campaign Performance Analysis &amp; Recommendation</dc:title>
  <dc:creator>Scobee, Kyle</dc:creator>
  <cp:lastModifiedBy>Admin</cp:lastModifiedBy>
  <cp:revision>10</cp:revision>
  <cp:lastPrinted>2016-04-06T18:59:25Z</cp:lastPrinted>
  <dcterms:created xsi:type="dcterms:W3CDTF">2025-04-28T17:07:03Z</dcterms:created>
  <dcterms:modified xsi:type="dcterms:W3CDTF">2026-07-01T06:34:32Z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